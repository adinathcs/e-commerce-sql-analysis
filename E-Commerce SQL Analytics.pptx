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7" r:id="rId9"/>
  </p:sldIdLst>
  <p:sldSz cx="12192000" cy="6858000"/>
  <p:notesSz cx="6858000" cy="9144000"/>
  <p:embeddedFontLst>
    <p:embeddedFont>
      <p:font typeface="Inter" panose="02000503000000020004" pitchFamily="2" charset="0"/>
      <p:regular r:id="rId10"/>
      <p:bold r:id="rId11"/>
      <p:italic r:id="rId12"/>
      <p:boldItalic r:id="rId13"/>
    </p:embeddedFont>
    <p:embeddedFont>
      <p:font typeface="Inter 18pt SemiBold" panose="02000503000000020004" pitchFamily="2" charset="0"/>
      <p:bold r:id="rId14"/>
      <p:boldItalic r:id="rId15"/>
    </p:embeddedFont>
    <p:embeddedFont>
      <p:font typeface="Space Grotesk" pitchFamily="2" charset="0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357327-B9DD-481A-B355-F3258B0B2F3A}" v="1" dt="2026-10-12T15:42:43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nath C S" userId="7ba4a413275308df" providerId="LiveId" clId="{5593131C-3778-4B20-AC78-538176FAD534}"/>
    <pc:docChg chg="modSld">
      <pc:chgData name="Adinath C S" userId="7ba4a413275308df" providerId="LiveId" clId="{5593131C-3778-4B20-AC78-538176FAD534}" dt="2026-10-12T15:43:12.658" v="233" actId="2710"/>
      <pc:docMkLst>
        <pc:docMk/>
      </pc:docMkLst>
      <pc:sldChg chg="modSp mod">
        <pc:chgData name="Adinath C S" userId="7ba4a413275308df" providerId="LiveId" clId="{5593131C-3778-4B20-AC78-538176FAD534}" dt="2026-10-12T15:43:12.658" v="233" actId="2710"/>
        <pc:sldMkLst>
          <pc:docMk/>
          <pc:sldMk cId="0" sldId="260"/>
        </pc:sldMkLst>
        <pc:spChg chg="mod">
          <ac:chgData name="Adinath C S" userId="7ba4a413275308df" providerId="LiveId" clId="{5593131C-3778-4B20-AC78-538176FAD534}" dt="2026-10-12T12:59:36.690" v="16" actId="10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Adinath C S" userId="7ba4a413275308df" providerId="LiveId" clId="{5593131C-3778-4B20-AC78-538176FAD534}" dt="2026-10-12T15:43:12.658" v="233" actId="2710"/>
          <ac:spMkLst>
            <pc:docMk/>
            <pc:sldMk cId="0" sldId="260"/>
            <ac:spMk id="8" creationId="{00000000-0000-0000-0000-000000000000}"/>
          </ac:spMkLst>
        </pc:spChg>
      </pc:sldChg>
      <pc:sldChg chg="modSp mod">
        <pc:chgData name="Adinath C S" userId="7ba4a413275308df" providerId="LiveId" clId="{5593131C-3778-4B20-AC78-538176FAD534}" dt="2026-10-12T13:00:09.732" v="32" actId="1035"/>
        <pc:sldMkLst>
          <pc:docMk/>
          <pc:sldMk cId="0" sldId="261"/>
        </pc:sldMkLst>
        <pc:spChg chg="mod">
          <ac:chgData name="Adinath C S" userId="7ba4a413275308df" providerId="LiveId" clId="{5593131C-3778-4B20-AC78-538176FAD534}" dt="2026-10-12T13:00:09.732" v="32" actId="1035"/>
          <ac:spMkLst>
            <pc:docMk/>
            <pc:sldMk cId="0" sldId="261"/>
            <ac:spMk id="6" creationId="{00000000-0000-0000-0000-000000000000}"/>
          </ac:spMkLst>
        </pc:spChg>
        <pc:spChg chg="mod">
          <ac:chgData name="Adinath C S" userId="7ba4a413275308df" providerId="LiveId" clId="{5593131C-3778-4B20-AC78-538176FAD534}" dt="2026-10-12T13:00:03.252" v="20" actId="1076"/>
          <ac:spMkLst>
            <pc:docMk/>
            <pc:sldMk cId="0" sldId="261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574827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245072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60A5FA"/>
                </a:solidFill>
                <a:latin typeface="Inter"/>
              </a:rPr>
              <a:t>SQL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83197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8FAFC"/>
                </a:solidFill>
                <a:latin typeface="Space Grotesk"/>
              </a:rPr>
              <a:t>E-Commerce Sales Performance &amp; Behavior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12827"/>
            <a:ext cx="723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94A3B8"/>
                </a:solidFill>
                <a:latin typeface="Inter"/>
              </a:rPr>
              <a:t>End-to-end relational data exploration, executive KPI tracking, customer segmentation, and promotional impact analysis.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47B8F-7700-9658-6199-F71A9E2B303C}"/>
              </a:ext>
            </a:extLst>
          </p:cNvPr>
          <p:cNvSpPr txBox="1"/>
          <p:nvPr/>
        </p:nvSpPr>
        <p:spPr>
          <a:xfrm>
            <a:off x="609600" y="5711135"/>
            <a:ext cx="26025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1" dirty="0">
                <a:solidFill>
                  <a:srgbClr val="60A5FA"/>
                </a:solidFill>
                <a:latin typeface="Inter"/>
              </a:rPr>
              <a:t>-Prepared by</a:t>
            </a:r>
          </a:p>
          <a:p>
            <a:pPr algn="l"/>
            <a:r>
              <a:rPr lang="en-IN" sz="1050" b="1" i="0" u="none" dirty="0">
                <a:solidFill>
                  <a:srgbClr val="60A5FA"/>
                </a:solidFill>
                <a:latin typeface="Inter"/>
              </a:rPr>
              <a:t>Adinath C 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654616" y="1580569"/>
            <a:ext cx="2213748" cy="324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IN" sz="2400" b="1" i="0" u="none" dirty="0">
                <a:solidFill>
                  <a:srgbClr val="0F172A"/>
                </a:solidFill>
                <a:latin typeface="Space Grotesk"/>
              </a:rPr>
              <a:t>DATASET INTRO</a:t>
            </a:r>
            <a:endParaRPr sz="24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54616" y="2065614"/>
            <a:ext cx="8882768" cy="27267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Core Tables: 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Three core relational tables—</a:t>
            </a:r>
            <a:r>
              <a:rPr lang="en-IN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customers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IN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products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, and </a:t>
            </a:r>
            <a:r>
              <a:rPr lang="en-IN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sales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customers</a:t>
            </a: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 Table: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 Stores buyer identities, names, and geographic locations (states) for regional and demographic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products</a:t>
            </a: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 Table: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 Manages the </a:t>
            </a:r>
            <a:r>
              <a:rPr lang="en-IN" sz="1600" dirty="0" err="1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catalog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, tracking product IDs, names, categories, baseline selling prices, and discount percentages.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sales</a:t>
            </a: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 Table: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  <a:cs typeface="Arial" panose="020B0604020202020204" pitchFamily="34" charset="0"/>
              </a:rPr>
              <a:t> Records transactional history, including order IDs, quantities sold, delivery statuses, timestamps, and foreign keys linking customers and products</a:t>
            </a:r>
            <a:endParaRPr sz="1500" b="1" i="0" u="none" dirty="0">
              <a:solidFill>
                <a:srgbClr val="1E293B"/>
              </a:solidFill>
              <a:latin typeface="Inter 18pt SemiBold" panose="02000503000000020004" pitchFamily="2" charset="0"/>
              <a:ea typeface="Inter 18pt SemiBold" panose="02000503000000020004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234830" y="1172064"/>
            <a:ext cx="1766509" cy="324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IN" sz="2400" b="1" i="0" u="none" dirty="0">
                <a:solidFill>
                  <a:srgbClr val="0F172A"/>
                </a:solidFill>
                <a:latin typeface="Space Grotesk"/>
              </a:rPr>
              <a:t>OBJECTIVES</a:t>
            </a:r>
            <a:endParaRPr sz="21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34830" y="1847798"/>
            <a:ext cx="9722340" cy="3170099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Executive Oversight: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Track total revenue, average order value, order </a:t>
            </a:r>
            <a:r>
              <a:rPr lang="en-IN" sz="1600" dirty="0" err="1">
                <a:latin typeface="Inter 18pt SemiBold" panose="02000503000000020004" pitchFamily="2" charset="0"/>
                <a:ea typeface="Inter 18pt SemiBold" panose="02000503000000020004" pitchFamily="2" charset="0"/>
              </a:rPr>
              <a:t>fulfillment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rate, shipping durations, and customer retention.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Customer Segmentation &amp; RFM Analysis: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Identify VIP spenders, map geographic revenue across states, and classify buyers into spending tiers.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Product &amp; Category Performance: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Pinpoint high-performing categories, top-selling items, and evaluate inventory health tiers.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Promotion &amp; Discount Impact Analysis: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</a:t>
            </a:r>
            <a:r>
              <a:rPr lang="en-IN" sz="1600" dirty="0" err="1">
                <a:latin typeface="Inter 18pt SemiBold" panose="02000503000000020004" pitchFamily="2" charset="0"/>
                <a:ea typeface="Inter 18pt SemiBold" panose="02000503000000020004" pitchFamily="2" charset="0"/>
              </a:rPr>
              <a:t>Analyze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discount bracket effectiveness, measure margin erosion (gross vs. net), and assess order basket sizes.</a:t>
            </a:r>
          </a:p>
          <a:p>
            <a:pPr algn="l"/>
            <a:endParaRPr sz="1400" b="1" i="0" u="none" dirty="0">
              <a:solidFill>
                <a:srgbClr val="0F172A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86AC7-4F2F-8F2C-D02E-A01CA1EB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6FB52C2-4A2B-054D-51F6-D8B68AC88148}"/>
              </a:ext>
            </a:extLst>
          </p:cNvPr>
          <p:cNvSpPr txBox="1"/>
          <p:nvPr/>
        </p:nvSpPr>
        <p:spPr>
          <a:xfrm>
            <a:off x="5098935" y="3266519"/>
            <a:ext cx="1994136" cy="324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IN" sz="2400" b="1" i="0" u="none" dirty="0">
                <a:solidFill>
                  <a:srgbClr val="0F172A"/>
                </a:solidFill>
                <a:latin typeface="Space Grotesk"/>
              </a:rPr>
              <a:t>SQL ANALYSIS</a:t>
            </a:r>
            <a:endParaRPr sz="2100" b="1" i="0" u="none" dirty="0">
              <a:solidFill>
                <a:srgbClr val="0F172A"/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324240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176765" y="1624371"/>
            <a:ext cx="9838470" cy="3609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Macro Business Health: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The platform maintains strong operational efficiency with high order fulfilment rates and predictable processing timelines, driven by a solid baseline of repeat customers.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Customer Value Concentration: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A small tier of VIP spenders and key geographic states generate a disproportionate share of total revenue, highlighting high-value customer clusters.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Catalog Drivers: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Sales volume and gross earnings are heavily anchored in top-performing categories and star </a:t>
            </a:r>
            <a:r>
              <a:rPr lang="en-IN" sz="1600" dirty="0" err="1">
                <a:latin typeface="Inter 18pt SemiBold" panose="02000503000000020004" pitchFamily="2" charset="0"/>
                <a:ea typeface="Inter 18pt SemiBold" panose="02000503000000020004" pitchFamily="2" charset="0"/>
              </a:rPr>
              <a:t>catalog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items, while low-performing items create inventory drag.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Discount &amp; Margin Trade-Offs: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Heavy discount tiers successfully boost volume and multi-item order basket sizes, but significantly erode gross revenue into net margins.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1400" b="0" i="0" u="none" dirty="0">
              <a:solidFill>
                <a:srgbClr val="334155"/>
              </a:solidFill>
              <a:latin typeface="Inter 18pt SemiBold" panose="02000503000000020004" pitchFamily="2" charset="0"/>
              <a:ea typeface="Inter 18pt SemiBold" panose="020005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322340-6B35-A767-EB03-B24998B72905}"/>
              </a:ext>
            </a:extLst>
          </p:cNvPr>
          <p:cNvSpPr txBox="1"/>
          <p:nvPr/>
        </p:nvSpPr>
        <p:spPr>
          <a:xfrm>
            <a:off x="1004826" y="963395"/>
            <a:ext cx="2149231" cy="417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IN" sz="2400" b="1" dirty="0">
                <a:solidFill>
                  <a:srgbClr val="0F172A"/>
                </a:solidFill>
                <a:latin typeface="Space Grotesk"/>
              </a:rPr>
              <a:t>KEY INSIGHTS</a:t>
            </a:r>
            <a:endParaRPr lang="en-IN" sz="2400" b="1" i="0" u="none" dirty="0">
              <a:solidFill>
                <a:srgbClr val="0F172A"/>
              </a:solidFill>
              <a:latin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14585" y="1640987"/>
            <a:ext cx="1862689" cy="32496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IN" sz="2400" b="1" i="0" u="none" dirty="0">
                <a:solidFill>
                  <a:srgbClr val="0F172A"/>
                </a:solidFill>
                <a:latin typeface="Space Grotesk"/>
              </a:rPr>
              <a:t>CONCLUSION</a:t>
            </a:r>
            <a:endParaRPr sz="24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9102" y="2157947"/>
            <a:ext cx="9173796" cy="2542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Analytical Capability: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Successfully engineered and executed SQL analytical suite to answer critical business questions across sales, customer behaviour, and </a:t>
            </a:r>
            <a:r>
              <a:rPr lang="en-IN" sz="1600" dirty="0" err="1">
                <a:latin typeface="Inter 18pt SemiBold" panose="02000503000000020004" pitchFamily="2" charset="0"/>
                <a:ea typeface="Inter 18pt SemiBold" panose="02000503000000020004" pitchFamily="2" charset="0"/>
              </a:rPr>
              <a:t>catalog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performance.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Data-Driven Decision Making: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Transformed raw transactional data into structured, executive-ready insights to support strategic planning in pricing, inventory, and customer retention.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Translating Data into Decisions: 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Successfully translated complex relational database operations into clear, understandable business solutions for stakeholders.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388207" y="1297113"/>
            <a:ext cx="2151230" cy="5000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2400" b="1" i="0" u="none" dirty="0">
                <a:solidFill>
                  <a:srgbClr val="0F172A"/>
                </a:solidFill>
                <a:latin typeface="Space Grotesk"/>
              </a:rPr>
              <a:t>FUTURE SCOPE</a:t>
            </a:r>
            <a:endParaRPr sz="24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8072" y="1973281"/>
            <a:ext cx="9615855" cy="29114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BI Dashboard Integration: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Connect the SQL query layer directly to Power BI or Tableau to build dynamic, real-time executive dashboards.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Advanced Machine Learning: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Implement predictive modelling for customer churn, lifetime value (LTV) forecasting, and demand planning.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Schema &amp; Data Expansion: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Expand the database to track real-time inventory levels, supplier logistics, and website clickstream activity.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b="1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Automated Data Pipelines:</a:t>
            </a:r>
            <a:r>
              <a:rPr lang="en-IN" sz="1600" dirty="0">
                <a:latin typeface="Inter 18pt SemiBold" panose="02000503000000020004" pitchFamily="2" charset="0"/>
                <a:ea typeface="Inter 18pt SemiBold" panose="02000503000000020004" pitchFamily="2" charset="0"/>
              </a:rPr>
              <a:t> Build ETL pipelines using Python and SQL views to automate daily reporting and anomaly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7400" y="3361347"/>
            <a:ext cx="4572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95812" y="2790348"/>
            <a:ext cx="3000375" cy="6391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 dirty="0">
                <a:solidFill>
                  <a:srgbClr val="F8FAFC"/>
                </a:solidFill>
                <a:latin typeface="Space Grotes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483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Inter</vt:lpstr>
      <vt:lpstr>Calibri</vt:lpstr>
      <vt:lpstr>Space Grotesk</vt:lpstr>
      <vt:lpstr>Inter 18pt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Adinath C S</dc:creator>
  <cp:keywords/>
  <dc:description>generated using python-pptx</dc:description>
  <cp:lastModifiedBy>Adinath C S</cp:lastModifiedBy>
  <cp:revision>2</cp:revision>
  <dcterms:created xsi:type="dcterms:W3CDTF">2013-01-27T09:14:16Z</dcterms:created>
  <dcterms:modified xsi:type="dcterms:W3CDTF">2026-10-12T15:43:19Z</dcterms:modified>
  <cp:category/>
</cp:coreProperties>
</file>